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8197"/>
    <a:srgbClr val="A7D8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4FA815-D37D-4AFA-A89A-5DCDFBF0A6F0}">
  <a:tblStyle styleId="{124FA815-D37D-4AFA-A89A-5DCDFBF0A6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Leon Gradvohl" userId="06cc6c77ff9aaaf9" providerId="LiveId" clId="{33512A2A-6128-42B2-8B80-6C271436096F}"/>
    <pc:docChg chg="modSld">
      <pc:chgData name="Andre Leon Gradvohl" userId="06cc6c77ff9aaaf9" providerId="LiveId" clId="{33512A2A-6128-42B2-8B80-6C271436096F}" dt="2023-11-20T12:54:55.739" v="60" actId="20577"/>
      <pc:docMkLst>
        <pc:docMk/>
      </pc:docMkLst>
      <pc:sldChg chg="modSp">
        <pc:chgData name="Andre Leon Gradvohl" userId="06cc6c77ff9aaaf9" providerId="LiveId" clId="{33512A2A-6128-42B2-8B80-6C271436096F}" dt="2023-11-20T12:54:55.739" v="60" actId="20577"/>
        <pc:sldMkLst>
          <pc:docMk/>
          <pc:sldMk cId="3479905548" sldId="296"/>
        </pc:sldMkLst>
        <pc:spChg chg="mod">
          <ac:chgData name="Andre Leon Gradvohl" userId="06cc6c77ff9aaaf9" providerId="LiveId" clId="{33512A2A-6128-42B2-8B80-6C271436096F}" dt="2023-11-20T12:54:55.739" v="60" actId="20577"/>
          <ac:spMkLst>
            <pc:docMk/>
            <pc:sldMk cId="3479905548" sldId="29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7832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731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0566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399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627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183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525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5810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4306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039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96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81150" y="1759800"/>
            <a:ext cx="4371926" cy="32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696425"/>
            <a:ext cx="5391000" cy="29304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9349" y="2301324"/>
            <a:ext cx="3702249" cy="26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no illustration">
  <p:cSld name="BLANK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8204" y="2372421"/>
            <a:ext cx="3533400" cy="261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457200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993928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9185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50275" y="2175625"/>
            <a:ext cx="3879000" cy="2870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811950"/>
            <a:ext cx="4973100" cy="11598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3144850"/>
            <a:ext cx="2493600" cy="7848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1800"/>
              <a:buNone/>
              <a:defRPr sz="1800">
                <a:solidFill>
                  <a:srgbClr val="A7A4B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1800"/>
              <a:buNone/>
              <a:defRPr sz="1800">
                <a:solidFill>
                  <a:srgbClr val="A7A4B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1800"/>
              <a:buNone/>
              <a:defRPr sz="1800">
                <a:solidFill>
                  <a:srgbClr val="A7A4B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1800"/>
              <a:buNone/>
              <a:defRPr sz="1800">
                <a:solidFill>
                  <a:srgbClr val="A7A4B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1800"/>
              <a:buNone/>
              <a:defRPr sz="1800">
                <a:solidFill>
                  <a:srgbClr val="A7A4B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1800"/>
              <a:buNone/>
              <a:defRPr sz="1800">
                <a:solidFill>
                  <a:srgbClr val="A7A4B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1800"/>
              <a:buNone/>
              <a:defRPr sz="1800">
                <a:solidFill>
                  <a:srgbClr val="A7A4B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1800"/>
              <a:buNone/>
              <a:defRPr sz="1800">
                <a:solidFill>
                  <a:srgbClr val="A7A4B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1800"/>
              <a:buNone/>
              <a:defRPr sz="1800">
                <a:solidFill>
                  <a:srgbClr val="A7A4BC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121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41170" y="2518284"/>
            <a:ext cx="3450425" cy="247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972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A7D86D"/>
              </a:buClr>
              <a:buSzPts val="2200"/>
              <a:buFont typeface="Muli Light"/>
              <a:buChar char="●"/>
              <a:defRPr sz="2200">
                <a:solidFill>
                  <a:srgbClr val="65617D"/>
                </a:solidFill>
                <a:latin typeface="Muli Light"/>
                <a:ea typeface="Muli Light"/>
                <a:cs typeface="Muli Light"/>
                <a:sym typeface="Muli Light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2200"/>
              <a:buFont typeface="Muli Light"/>
              <a:buChar char="○"/>
              <a:defRPr sz="2200">
                <a:solidFill>
                  <a:srgbClr val="65617D"/>
                </a:solidFill>
                <a:latin typeface="Muli Light"/>
                <a:ea typeface="Muli Light"/>
                <a:cs typeface="Muli Light"/>
                <a:sym typeface="Muli Light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2200"/>
              <a:buFont typeface="Muli Light"/>
              <a:buChar char="■"/>
              <a:defRPr sz="2200">
                <a:solidFill>
                  <a:srgbClr val="65617D"/>
                </a:solidFill>
                <a:latin typeface="Muli Light"/>
                <a:ea typeface="Muli Light"/>
                <a:cs typeface="Muli Light"/>
                <a:sym typeface="Muli Light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2200"/>
              <a:buFont typeface="Muli Light"/>
              <a:buChar char="●"/>
              <a:defRPr sz="2200">
                <a:solidFill>
                  <a:srgbClr val="65617D"/>
                </a:solidFill>
                <a:latin typeface="Muli Light"/>
                <a:ea typeface="Muli Light"/>
                <a:cs typeface="Muli Light"/>
                <a:sym typeface="Muli Light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2200"/>
              <a:buFont typeface="Muli Light"/>
              <a:buChar char="○"/>
              <a:defRPr sz="2200">
                <a:solidFill>
                  <a:srgbClr val="65617D"/>
                </a:solidFill>
                <a:latin typeface="Muli Light"/>
                <a:ea typeface="Muli Light"/>
                <a:cs typeface="Muli Light"/>
                <a:sym typeface="Muli Light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2200"/>
              <a:buFont typeface="Muli Light"/>
              <a:buChar char="■"/>
              <a:defRPr sz="2200">
                <a:solidFill>
                  <a:srgbClr val="65617D"/>
                </a:solidFill>
                <a:latin typeface="Muli Light"/>
                <a:ea typeface="Muli Light"/>
                <a:cs typeface="Muli Light"/>
                <a:sym typeface="Muli Light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2200"/>
              <a:buFont typeface="Muli Light"/>
              <a:buChar char="●"/>
              <a:defRPr sz="2200">
                <a:solidFill>
                  <a:srgbClr val="65617D"/>
                </a:solidFill>
                <a:latin typeface="Muli Light"/>
                <a:ea typeface="Muli Light"/>
                <a:cs typeface="Muli Light"/>
                <a:sym typeface="Muli Light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2200"/>
              <a:buFont typeface="Muli Light"/>
              <a:buChar char="○"/>
              <a:defRPr sz="2200">
                <a:solidFill>
                  <a:srgbClr val="65617D"/>
                </a:solidFill>
                <a:latin typeface="Muli Light"/>
                <a:ea typeface="Muli Light"/>
                <a:cs typeface="Muli Light"/>
                <a:sym typeface="Muli Light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4BC"/>
              </a:buClr>
              <a:buSzPts val="2200"/>
              <a:buFont typeface="Muli Light"/>
              <a:buChar char="■"/>
              <a:defRPr sz="2200">
                <a:solidFill>
                  <a:srgbClr val="65617D"/>
                </a:solidFill>
                <a:latin typeface="Muli Light"/>
                <a:ea typeface="Muli Light"/>
                <a:cs typeface="Muli Light"/>
                <a:sym typeface="Muli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rgbClr val="A7D86D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buNone/>
              <a:defRPr sz="1300">
                <a:solidFill>
                  <a:srgbClr val="A7D86D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buNone/>
              <a:defRPr sz="1300">
                <a:solidFill>
                  <a:srgbClr val="A7D86D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buNone/>
              <a:defRPr sz="1300">
                <a:solidFill>
                  <a:srgbClr val="A7D86D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buNone/>
              <a:defRPr sz="1300">
                <a:solidFill>
                  <a:srgbClr val="A7D86D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buNone/>
              <a:defRPr sz="1300">
                <a:solidFill>
                  <a:srgbClr val="A7D86D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buNone/>
              <a:defRPr sz="1300">
                <a:solidFill>
                  <a:srgbClr val="A7D86D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buNone/>
              <a:defRPr sz="1300">
                <a:solidFill>
                  <a:srgbClr val="A7D86D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buNone/>
              <a:defRPr sz="1300">
                <a:solidFill>
                  <a:srgbClr val="A7D86D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9" r:id="rId3"/>
    <p:sldLayoutId id="2147483661" r:id="rId4"/>
    <p:sldLayoutId id="2147483662" r:id="rId5"/>
    <p:sldLayoutId id="2147483663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685799" y="696425"/>
            <a:ext cx="8175171" cy="140451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Segurança em </a:t>
            </a:r>
            <a:br>
              <a:rPr lang="en" sz="4000" dirty="0"/>
            </a:br>
            <a:r>
              <a:rPr lang="en" sz="4000" dirty="0"/>
              <a:t>Sistemas Operacionais</a:t>
            </a:r>
            <a:endParaRPr sz="40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718453" y="2002977"/>
            <a:ext cx="5279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Prof. André Leon S. Gradvohl, Dr.</a:t>
            </a:r>
          </a:p>
          <a:p>
            <a:pPr algn="ctr"/>
            <a:r>
              <a:rPr lang="en-US" sz="1800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gradvohl@ft.unicamp.br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594" y="129770"/>
            <a:ext cx="6300300" cy="857400"/>
          </a:xfrm>
        </p:spPr>
        <p:txBody>
          <a:bodyPr/>
          <a:lstStyle/>
          <a:p>
            <a:r>
              <a:rPr lang="pt-BR" sz="4000" dirty="0"/>
              <a:t>Plano de apresentação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95941" y="987170"/>
            <a:ext cx="6770915" cy="3965830"/>
          </a:xfrm>
        </p:spPr>
        <p:txBody>
          <a:bodyPr/>
          <a:lstStyle/>
          <a:p>
            <a:r>
              <a:rPr lang="pt-BR" sz="2000" dirty="0"/>
              <a:t>Conceitos básicos de segurança</a:t>
            </a:r>
          </a:p>
          <a:p>
            <a:r>
              <a:rPr lang="pt-BR" sz="2000" dirty="0">
                <a:solidFill>
                  <a:srgbClr val="848197"/>
                </a:solidFill>
              </a:rPr>
              <a:t>Conceitos</a:t>
            </a:r>
            <a:r>
              <a:rPr lang="pt-BR" sz="2000" dirty="0"/>
              <a:t> de Criptografia</a:t>
            </a:r>
          </a:p>
          <a:p>
            <a:pPr lvl="1"/>
            <a:r>
              <a:rPr lang="pt-BR" sz="1800" dirty="0"/>
              <a:t>Algoritmo RSA para criptografia</a:t>
            </a:r>
          </a:p>
          <a:p>
            <a:r>
              <a:rPr lang="pt-BR" sz="2000" dirty="0"/>
              <a:t>Autenticação de usuários</a:t>
            </a:r>
          </a:p>
          <a:p>
            <a:r>
              <a:rPr lang="pt-BR" sz="2000" dirty="0"/>
              <a:t>Ataques a sistemas</a:t>
            </a:r>
          </a:p>
          <a:p>
            <a:pPr lvl="1"/>
            <a:r>
              <a:rPr lang="pt-BR" sz="1800" i="1" dirty="0" err="1"/>
              <a:t>Malware</a:t>
            </a:r>
            <a:endParaRPr lang="pt-BR" sz="1800" i="1" dirty="0"/>
          </a:p>
          <a:p>
            <a:pPr lvl="1"/>
            <a:r>
              <a:rPr lang="pt-BR" sz="1800" dirty="0"/>
              <a:t>Funcionamento dos vírus</a:t>
            </a:r>
          </a:p>
          <a:p>
            <a:r>
              <a:rPr lang="pt-BR" sz="2000" dirty="0"/>
              <a:t>Mecanismos de proteção</a:t>
            </a:r>
          </a:p>
          <a:p>
            <a:r>
              <a:rPr lang="pt-BR" sz="2000" dirty="0"/>
              <a:t>Ataques que não dependem do sistema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9628623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5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228594" y="129770"/>
            <a:ext cx="8800690" cy="857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600" b="1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Conceitos básicos de segurança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3972" y="663297"/>
            <a:ext cx="4788297" cy="35960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27823807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228594" y="129770"/>
            <a:ext cx="8800690" cy="857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600" b="1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Conceitos básicos de segurança</a:t>
            </a:r>
          </a:p>
        </p:txBody>
      </p:sp>
      <p:sp>
        <p:nvSpPr>
          <p:cNvPr id="8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Confidencialidade:</a:t>
            </a:r>
          </a:p>
          <a:p>
            <a:pPr marL="342900" indent="-342900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O acesso à informação deve ser permitido apenas às pessoas ou sistemas devidamente autorizados.</a:t>
            </a:r>
          </a:p>
          <a:p>
            <a:pPr marL="285750" lvl="3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lvl="3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Integridade:</a:t>
            </a:r>
          </a:p>
          <a:p>
            <a:pPr marL="342900" lvl="4" indent="-342900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Manutenção da consistência, precisão e fidedignidade da informação.</a:t>
            </a:r>
          </a:p>
          <a:p>
            <a:pPr marL="285750" lvl="3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lvl="3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Disponibilidade:</a:t>
            </a:r>
          </a:p>
          <a:p>
            <a:pPr marL="342900" lvl="4" indent="-342900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A informação deve estar disponível no momento em que foi solicitada.</a:t>
            </a:r>
          </a:p>
          <a:p>
            <a:pPr marL="285750" lvl="3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lvl="3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E a privacidade? Não faz parte?</a:t>
            </a:r>
          </a:p>
        </p:txBody>
      </p:sp>
    </p:spTree>
    <p:extLst>
      <p:ext uri="{BB962C8B-B14F-4D97-AF65-F5344CB8AC3E}">
        <p14:creationId xmlns:p14="http://schemas.microsoft.com/office/powerpoint/2010/main" val="1756298890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228594" y="129770"/>
            <a:ext cx="8800690" cy="857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600" b="1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Conceitos de Criptografia </a:t>
            </a:r>
          </a:p>
        </p:txBody>
      </p:sp>
      <p:sp>
        <p:nvSpPr>
          <p:cNvPr id="8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Criptografia é um método de codificação dos dados de forma que apenas os elementos autorizados para a transmissão e recepção dos dados consigam ler ou interpretar seu conteúdo.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848197"/>
                </a:solidFill>
                <a:latin typeface="Muli Light" panose="020B0604020202020204" charset="0"/>
              </a:rPr>
              <a:t>Cripto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= cofre; grafia = escrita.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Há dois conceitos principais em criptografia:</a:t>
            </a:r>
          </a:p>
          <a:p>
            <a:pPr marL="892175" lvl="2" indent="-263525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Algoritmos: conjunto de instruções para codificar ou decodificar um texto.</a:t>
            </a:r>
          </a:p>
          <a:p>
            <a:pPr marL="892175" indent="-285750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Chaves: parâmetro para o algoritmo codificar ou decodificar um texto.</a:t>
            </a:r>
          </a:p>
          <a:p>
            <a:pPr marL="285750" lvl="1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Tipos de criptografia:</a:t>
            </a:r>
          </a:p>
          <a:p>
            <a:pPr marL="892175" lvl="2" indent="-263525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Simétrica: a mesma chave é utilizada para criptografar e </a:t>
            </a:r>
            <a:r>
              <a:rPr lang="pt-BR" sz="1800" dirty="0" err="1">
                <a:solidFill>
                  <a:srgbClr val="848197"/>
                </a:solidFill>
                <a:latin typeface="Muli Light" panose="020B0604020202020204" charset="0"/>
              </a:rPr>
              <a:t>descriptografar</a:t>
            </a: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 uma mensagem.</a:t>
            </a:r>
          </a:p>
          <a:p>
            <a:pPr marL="892175" indent="-285750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Assimétrica: uma chave é utilizada para criptografar e outra é utilizada para </a:t>
            </a:r>
            <a:r>
              <a:rPr lang="pt-BR" sz="1800" dirty="0" err="1">
                <a:solidFill>
                  <a:srgbClr val="848197"/>
                </a:solidFill>
                <a:latin typeface="Muli Light" panose="020B0604020202020204" charset="0"/>
              </a:rPr>
              <a:t>descriptografar</a:t>
            </a: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 uma mensagem.</a:t>
            </a:r>
          </a:p>
          <a:p>
            <a:pPr marL="285750" lvl="1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804863" lvl="1" indent="-285750">
              <a:buClr>
                <a:srgbClr val="A7D86D"/>
              </a:buClr>
              <a:buFont typeface="Wingdings" panose="05000000000000000000" pitchFamily="2" charset="2"/>
              <a:buChar char="Ø"/>
            </a:pPr>
            <a:endParaRPr lang="pt-BR" sz="18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107442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228594" y="129770"/>
            <a:ext cx="8800690" cy="857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600" b="1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Conceitos de Criptografia </a:t>
            </a:r>
          </a:p>
        </p:txBody>
      </p:sp>
      <p:sp>
        <p:nvSpPr>
          <p:cNvPr id="8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Exemplo: Você conseguiria </a:t>
            </a:r>
            <a:r>
              <a:rPr lang="pt-BR" sz="2200" dirty="0" err="1">
                <a:solidFill>
                  <a:srgbClr val="848197"/>
                </a:solidFill>
                <a:latin typeface="Muli Light" panose="020B0604020202020204" charset="0"/>
              </a:rPr>
              <a:t>descriptografar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a mensagem a seguir?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algn="ctr">
              <a:buClr>
                <a:srgbClr val="A7D86D"/>
              </a:buClr>
            </a:pPr>
            <a:r>
              <a:rPr lang="pt-BR" sz="2200" dirty="0" err="1">
                <a:solidFill>
                  <a:srgbClr val="848197"/>
                </a:solidFill>
                <a:latin typeface="Muli Light" panose="020B0604020202020204" charset="0"/>
              </a:rPr>
              <a:t>lqirupdfdr</a:t>
            </a: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Dicas:</a:t>
            </a:r>
          </a:p>
          <a:p>
            <a:pPr marL="892175" lvl="2" indent="-263525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Estou usando criptografia simétrica.</a:t>
            </a:r>
          </a:p>
          <a:p>
            <a:pPr marL="892175" indent="-285750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Lembre-se que palavras em português têm muitas vogais.</a:t>
            </a:r>
          </a:p>
          <a:p>
            <a:pPr marL="892175" indent="-285750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As letras ‘a’ e ‘o’ se repetem nesta palavra.</a:t>
            </a:r>
          </a:p>
          <a:p>
            <a:pPr marL="285750" lvl="1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Se você conseguiu descobrir, então:</a:t>
            </a:r>
          </a:p>
          <a:p>
            <a:pPr marL="892175" lvl="2" indent="-263525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Qual é o algoritmo de criptografia e qual o algoritmo para </a:t>
            </a:r>
            <a:r>
              <a:rPr lang="pt-BR" sz="1800" dirty="0" err="1">
                <a:solidFill>
                  <a:srgbClr val="848197"/>
                </a:solidFill>
                <a:latin typeface="Muli Light" panose="020B0604020202020204" charset="0"/>
              </a:rPr>
              <a:t>descriptografia</a:t>
            </a: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?</a:t>
            </a:r>
          </a:p>
          <a:p>
            <a:pPr marL="892175" indent="-285750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Qual é a chave?</a:t>
            </a:r>
          </a:p>
          <a:p>
            <a:pPr marL="285750" lvl="1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804863" lvl="1" indent="-285750">
              <a:buClr>
                <a:srgbClr val="A7D86D"/>
              </a:buClr>
              <a:buFont typeface="Wingdings" panose="05000000000000000000" pitchFamily="2" charset="2"/>
              <a:buChar char="Ø"/>
            </a:pPr>
            <a:endParaRPr lang="pt-BR" sz="18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09079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228594" y="129770"/>
            <a:ext cx="8800690" cy="857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600" b="1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Criptografia simétrica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114361" y="1189822"/>
            <a:ext cx="29149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Quais são os potenciais problemas com a criptografia simétrica?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Transferência das chaves.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Gerenciamento de chaves.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13" y="987152"/>
            <a:ext cx="5472000" cy="286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39507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228594" y="129770"/>
            <a:ext cx="8800690" cy="857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600" b="1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Criptografia assimétrica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114361" y="2049139"/>
            <a:ext cx="29149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Qual é o principal problemas com a criptografia assimétrica?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Número de chaves.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1" t="2774" r="10761" b="9688"/>
          <a:stretch/>
        </p:blipFill>
        <p:spPr>
          <a:xfrm>
            <a:off x="363556" y="925417"/>
            <a:ext cx="5472000" cy="397833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002355" y="1055783"/>
            <a:ext cx="3026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Quem deve manter a chave privada (remetente ou destinatário)?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Destinatário.</a:t>
            </a:r>
          </a:p>
        </p:txBody>
      </p:sp>
    </p:spTree>
    <p:extLst>
      <p:ext uri="{BB962C8B-B14F-4D97-AF65-F5344CB8AC3E}">
        <p14:creationId xmlns:p14="http://schemas.microsoft.com/office/powerpoint/2010/main" val="3542762316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228594" y="129770"/>
            <a:ext cx="8800690" cy="857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800" b="1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Criptografia Assimétrica – Algoritmo RSA</a:t>
            </a:r>
          </a:p>
        </p:txBody>
      </p:sp>
      <p:sp>
        <p:nvSpPr>
          <p:cNvPr id="8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Escolhem-se dois números primos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.</a:t>
            </a: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Calcula-se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=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x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pt-BR" sz="2200" dirty="0">
              <a:solidFill>
                <a:srgbClr val="84819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Calcula-se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= 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200" i="1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– 1) x 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– 1)</a:t>
            </a: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Escolhe-se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&lt;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sem fatores em comum com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(isto é,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dirty="0" err="1">
                <a:solidFill>
                  <a:srgbClr val="848197"/>
                </a:solidFill>
                <a:latin typeface="Muli Light" panose="020B0604020202020204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são primos entre si).</a:t>
            </a: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Encontra-se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, tal que 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x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– 1) é divisível por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.</a:t>
            </a: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457200" indent="-45720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Chave pública: par 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,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). Função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sz="2200" baseline="30000" dirty="0">
                <a:solidFill>
                  <a:srgbClr val="848197"/>
                </a:solidFill>
                <a:latin typeface="Muli Light" panose="020B0604020202020204" charset="0"/>
              </a:rPr>
              <a:t>+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) =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sz="2200" i="1" baseline="30000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dirty="0" err="1">
                <a:solidFill>
                  <a:srgbClr val="84819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/>
                <a:cs typeface="Times New Roman" panose="02020603050405020304" pitchFamily="18" charset="0"/>
              </a:rPr>
              <a:t> =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457200" indent="-45720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Chave privada: par 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,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) . Função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sz="2200" baseline="30000" dirty="0">
                <a:solidFill>
                  <a:srgbClr val="848197"/>
                </a:solidFill>
                <a:latin typeface="Muli Light" panose="020B0604020202020204" charset="0"/>
              </a:rPr>
              <a:t>-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) = </a:t>
            </a:r>
            <a:r>
              <a:rPr lang="pt-BR" sz="2200" i="1" dirty="0" err="1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200" i="1" baseline="30000" dirty="0" err="1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dirty="0" err="1">
                <a:solidFill>
                  <a:srgbClr val="84819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/>
                <a:cs typeface="Times New Roman" panose="02020603050405020304" pitchFamily="18" charset="0"/>
              </a:rPr>
              <a:t> =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862013" lvl="1" indent="-342900">
              <a:buClr>
                <a:srgbClr val="A7D86D"/>
              </a:buClr>
              <a:buFont typeface="+mj-lt"/>
              <a:buAutoNum type="arabicPeriod"/>
            </a:pPr>
            <a:endParaRPr lang="pt-BR" sz="18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555020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228594" y="129770"/>
            <a:ext cx="8800690" cy="857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800" b="1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Criptografia Assimétrica – Algoritmo RSA - Exemplo</a:t>
            </a:r>
          </a:p>
        </p:txBody>
      </p:sp>
      <p:sp>
        <p:nvSpPr>
          <p:cNvPr id="8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Escolhem-se dois números primos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/>
                <a:cs typeface="Times New Roman" panose="02020603050405020304" pitchFamily="18" charset="0"/>
              </a:rPr>
              <a:t>= 7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/>
                <a:cs typeface="Times New Roman" panose="02020603050405020304" pitchFamily="18" charset="0"/>
              </a:rPr>
              <a:t>= 13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.</a:t>
            </a: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Calcula-se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=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x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/>
                <a:cs typeface="Times New Roman" panose="02020603050405020304" pitchFamily="18" charset="0"/>
              </a:rPr>
              <a:t>= 91</a:t>
            </a:r>
            <a:endParaRPr lang="pt-BR" sz="2200" dirty="0">
              <a:solidFill>
                <a:srgbClr val="84819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Calcula-se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= 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200" i="1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– 1) x 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– 1) 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/>
                <a:cs typeface="Times New Roman" panose="02020603050405020304" pitchFamily="18" charset="0"/>
              </a:rPr>
              <a:t>= 72</a:t>
            </a: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Escolhe-se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/>
                <a:cs typeface="Times New Roman" panose="02020603050405020304" pitchFamily="18" charset="0"/>
              </a:rPr>
              <a:t>= 5 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&lt;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sem fatores em comum com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(isto é,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dirty="0" err="1">
                <a:solidFill>
                  <a:srgbClr val="848197"/>
                </a:solidFill>
                <a:latin typeface="Muli Light" panose="020B0604020202020204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são primos entre si).</a:t>
            </a: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Encontra-se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, tal que (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x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 – 1) é divisível por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.</a:t>
            </a:r>
          </a:p>
          <a:p>
            <a:pPr marL="457200" indent="-457200">
              <a:buClr>
                <a:srgbClr val="A7D86D"/>
              </a:buClr>
              <a:buFont typeface="+mj-lt"/>
              <a:buAutoNum type="arabicPeriod"/>
            </a:pPr>
            <a:endParaRPr lang="pt-BR" sz="22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>
              <a:buClr>
                <a:srgbClr val="A7D86D"/>
              </a:buClr>
            </a:pP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Possíveis valores de d para </a:t>
            </a:r>
            <a:r>
              <a:rPr lang="pt-BR" sz="22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200" i="1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200" dirty="0">
                <a:solidFill>
                  <a:srgbClr val="848197"/>
                </a:solidFill>
                <a:latin typeface="Muli Light" panose="020B0604020202020204" charset="0"/>
              </a:rPr>
              <a:t>= 5: {29, 101, 173, ...}</a:t>
            </a:r>
          </a:p>
          <a:p>
            <a:pPr marL="862013" lvl="1" indent="-34290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  <p:sp>
        <p:nvSpPr>
          <p:cNvPr id="4" name="Elipse 3"/>
          <p:cNvSpPr>
            <a:spLocks noChangeAspect="1"/>
          </p:cNvSpPr>
          <p:nvPr/>
        </p:nvSpPr>
        <p:spPr>
          <a:xfrm>
            <a:off x="4605170" y="3342701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34325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228594" y="129770"/>
            <a:ext cx="8800690" cy="857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800" b="1" dirty="0">
                <a:solidFill>
                  <a:srgbClr val="A7D86D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Criptografia Assimétrica – Algoritmo RSA - Exemplo</a:t>
            </a:r>
          </a:p>
        </p:txBody>
      </p:sp>
      <p:sp>
        <p:nvSpPr>
          <p:cNvPr id="8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62013" lvl="1" indent="-34290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337456" y="968828"/>
            <a:ext cx="296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4  9  11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48342" y="2046511"/>
            <a:ext cx="296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sz="2400" baseline="30000" dirty="0">
                <a:solidFill>
                  <a:srgbClr val="848197"/>
                </a:solidFill>
                <a:latin typeface="Muli Light" panose="020B0604020202020204" charset="0"/>
              </a:rPr>
              <a:t>+</a:t>
            </a:r>
            <a:r>
              <a:rPr lang="pt-BR" sz="2400" dirty="0">
                <a:solidFill>
                  <a:srgbClr val="848197"/>
                </a:solidFill>
                <a:latin typeface="Muli Light" panose="020B0604020202020204" charset="0"/>
              </a:rPr>
              <a:t>(</a:t>
            </a:r>
            <a:r>
              <a:rPr lang="pt-BR" sz="24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sz="2400" dirty="0">
                <a:solidFill>
                  <a:srgbClr val="848197"/>
                </a:solidFill>
                <a:latin typeface="Muli Light" panose="020B0604020202020204" charset="0"/>
              </a:rPr>
              <a:t>) = </a:t>
            </a:r>
            <a:r>
              <a:rPr lang="pt-BR" sz="24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sz="2400" i="1" baseline="30000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4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400" dirty="0" err="1">
                <a:solidFill>
                  <a:srgbClr val="84819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</a:t>
            </a:r>
            <a:r>
              <a:rPr lang="pt-BR" sz="24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4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2400" dirty="0">
              <a:latin typeface="Muli Light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290451" y="2046507"/>
            <a:ext cx="296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sz="2400" baseline="30000" dirty="0">
                <a:solidFill>
                  <a:srgbClr val="848197"/>
                </a:solidFill>
                <a:latin typeface="Muli Light" panose="020B0604020202020204" charset="0"/>
              </a:rPr>
              <a:t>-</a:t>
            </a:r>
            <a:r>
              <a:rPr lang="pt-BR" sz="2400" dirty="0">
                <a:solidFill>
                  <a:srgbClr val="848197"/>
                </a:solidFill>
                <a:latin typeface="Muli Light" panose="020B0604020202020204" charset="0"/>
              </a:rPr>
              <a:t>(</a:t>
            </a:r>
            <a:r>
              <a:rPr lang="pt-BR" sz="24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400" dirty="0">
                <a:solidFill>
                  <a:srgbClr val="848197"/>
                </a:solidFill>
                <a:latin typeface="Muli Light" panose="020B0604020202020204" charset="0"/>
              </a:rPr>
              <a:t>) = </a:t>
            </a:r>
            <a:r>
              <a:rPr lang="pt-BR" sz="2400" i="1" dirty="0" err="1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sz="2400" i="1" baseline="30000" dirty="0" err="1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24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400" dirty="0" err="1">
                <a:solidFill>
                  <a:srgbClr val="84819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</a:t>
            </a:r>
            <a:r>
              <a:rPr lang="pt-BR" sz="2400" dirty="0">
                <a:solidFill>
                  <a:srgbClr val="848197"/>
                </a:solidFill>
                <a:latin typeface="Muli Light" panose="020B0604020202020204" charset="0"/>
              </a:rPr>
              <a:t> </a:t>
            </a:r>
            <a:r>
              <a:rPr lang="pt-BR" sz="2400" i="1" dirty="0">
                <a:solidFill>
                  <a:srgbClr val="8481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2400" dirty="0">
              <a:latin typeface="Muli Light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966352" y="2026830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23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023259" y="969851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4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1356648" y="964860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1788149" y="964735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11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2975526" y="2024992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81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2929618" y="2034171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72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37459" y="3145044"/>
            <a:ext cx="296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23  81  72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827939" y="2063472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4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098291" y="3137845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23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625266" y="3147022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81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7804066" y="2061638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9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7141225" y="3145184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72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7791211" y="2037766"/>
            <a:ext cx="745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uli Ligh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805343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33333E-6 L -0.01805 0.21142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3" y="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0.00216 L -0.21545 0.2154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33" y="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59259E-6 L -0.05538 0.2089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8" y="10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46914E-7 L -0.16615 0.23272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16" y="116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0"/>
                            </p:stCondLst>
                            <p:childTnLst>
                              <p:par>
                                <p:cTn id="36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59259E-6 L -0.10138 0.21173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69" y="105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0"/>
                            </p:stCondLst>
                            <p:childTnLst>
                              <p:par>
                                <p:cTn id="4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45679E-6 L -0.10937 0.2117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69" y="105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000"/>
                            </p:stCondLst>
                            <p:childTnLst>
                              <p:par>
                                <p:cTn id="4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000"/>
                            </p:stCondLst>
                            <p:childTnLst>
                              <p:par>
                                <p:cTn id="5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000"/>
                            </p:stCondLst>
                            <p:childTnLst>
                              <p:par>
                                <p:cTn id="58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1 -2.83951E-6 L 0.56632 -2.83951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36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61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6000"/>
                            </p:stCondLst>
                            <p:childTnLst>
                              <p:par>
                                <p:cTn id="64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6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6000"/>
                            </p:stCondLst>
                            <p:childTnLst>
                              <p:par>
                                <p:cTn id="7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1.7284E-6 L -0.03958 -0.21513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9" y="-10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8000"/>
                            </p:stCondLst>
                            <p:childTnLst>
                              <p:par>
                                <p:cTn id="7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8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800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34568E-6 L -0.20469 -0.22192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43" y="-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0"/>
                            </p:stCondLst>
                            <p:childTnLst>
                              <p:par>
                                <p:cTn id="8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1.48148E-6 L -0.09462 -0.2145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2000"/>
                            </p:stCondLst>
                            <p:childTnLst>
                              <p:par>
                                <p:cTn id="8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2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2000"/>
                            </p:stCondLst>
                            <p:childTnLst>
                              <p:par>
                                <p:cTn id="9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9.87654E-7 L -0.15816 -0.21451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69" y="-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40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4000"/>
                            </p:stCondLst>
                            <p:childTnLst>
                              <p:par>
                                <p:cTn id="10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83951E-6 L -0.15486 -0.21419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43" y="-107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6000"/>
                            </p:stCondLst>
                            <p:childTnLst>
                              <p:par>
                                <p:cTn id="10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6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6000"/>
                            </p:stCondLst>
                            <p:childTnLst>
                              <p:par>
                                <p:cTn id="10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0.00216 L -0.10955 -0.20864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38" y="-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6" grpId="0"/>
      <p:bldP spid="16" grpId="1"/>
      <p:bldP spid="16" grpId="2"/>
      <p:bldP spid="16" grpId="3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0" grpId="2"/>
      <p:bldP spid="20" grpId="3"/>
      <p:bldP spid="21" grpId="0"/>
      <p:bldP spid="21" grpId="1"/>
      <p:bldP spid="21" grpId="2"/>
      <p:bldP spid="22" grpId="0"/>
      <p:bldP spid="22" grpId="1"/>
      <p:bldP spid="24" grpId="0"/>
      <p:bldP spid="24" grpId="1"/>
      <p:bldP spid="26" grpId="0"/>
      <p:bldP spid="26" grpId="1"/>
      <p:bldP spid="26" grpId="2"/>
      <p:bldP spid="28" grpId="0"/>
      <p:bldP spid="28" grpId="1"/>
      <p:bldP spid="28" grpId="2"/>
      <p:bldP spid="29" grpId="0"/>
      <p:bldP spid="29" grpId="1"/>
      <p:bldP spid="30" grpId="0"/>
      <p:bldP spid="30" grpId="1"/>
      <p:bldP spid="30" grpId="2"/>
      <p:bldP spid="31" grpId="0"/>
      <p:bldP spid="3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57200" y="282175"/>
            <a:ext cx="8301210" cy="8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Autenticação de usuários</a:t>
            </a:r>
            <a:endParaRPr sz="3600" dirty="0"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0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Os métodos de autenticação baseiam-se em:</a:t>
            </a:r>
          </a:p>
          <a:p>
            <a:pPr marL="71913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Alguma coisa que o usuário sabe</a:t>
            </a:r>
          </a:p>
          <a:p>
            <a:pPr marL="71913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Alguma coisa que o usuário tem</a:t>
            </a:r>
          </a:p>
          <a:p>
            <a:pPr marL="71913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Alguma coisa que o usuário é</a:t>
            </a:r>
          </a:p>
          <a:p>
            <a:pPr marL="358775" indent="-34290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A autenticação em dois fatores (2F) </a:t>
            </a:r>
            <a:r>
              <a:rPr lang="pt-BR" sz="2000">
                <a:solidFill>
                  <a:srgbClr val="848197"/>
                </a:solidFill>
                <a:latin typeface="Muli Light" panose="020B0604020202020204" charset="0"/>
              </a:rPr>
              <a:t>é a 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utilização de dois desses métodos juntos.</a:t>
            </a:r>
          </a:p>
          <a:p>
            <a:pPr marL="358775" indent="-34290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Biometria: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0147" y="2924996"/>
            <a:ext cx="2700000" cy="219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88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"/>
                            </p:stCondLst>
                            <p:childTnLst>
                              <p:par>
                                <p:cTn id="4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57200" y="118885"/>
            <a:ext cx="8301210" cy="8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Medidas de defesa contra ataques do tipo força bruta</a:t>
            </a:r>
            <a:endParaRPr sz="3200" dirty="0"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0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Limitação do horário de acesso ao sistema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Chamada automática de volta para um número </a:t>
            </a:r>
            <a:r>
              <a:rPr lang="pt-BR" sz="2000" dirty="0" err="1">
                <a:solidFill>
                  <a:srgbClr val="848197"/>
                </a:solidFill>
                <a:latin typeface="Muli Light" panose="020B0604020202020204" charset="0"/>
              </a:rPr>
              <a:t>pré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-especificado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Número limitado de tentativa de acessos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Uma base de dados de todos os acessos ao sistema (logs)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Nome e senha simples como isca</a:t>
            </a:r>
          </a:p>
          <a:p>
            <a:pPr marL="590550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O pessoal de segurança é notificado quando o intruso “morde a isca”</a:t>
            </a:r>
          </a:p>
        </p:txBody>
      </p:sp>
    </p:spTree>
    <p:extLst>
      <p:ext uri="{BB962C8B-B14F-4D97-AF65-F5344CB8AC3E}">
        <p14:creationId xmlns:p14="http://schemas.microsoft.com/office/powerpoint/2010/main" val="419626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57200" y="118885"/>
            <a:ext cx="8301210" cy="8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Ataques a sistemas – Malware</a:t>
            </a:r>
            <a:endParaRPr sz="3200" dirty="0"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0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Programa ou conjunto de programas projetados para infiltrar ou danificar um sistema de computador sem o consentimento do proprietário. 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É a junção das palavras “</a:t>
            </a:r>
            <a:r>
              <a:rPr lang="pt-BR" sz="2000" b="1" dirty="0" err="1">
                <a:solidFill>
                  <a:srgbClr val="848197"/>
                </a:solidFill>
                <a:latin typeface="Muli Light" panose="020B0604020202020204" charset="0"/>
              </a:rPr>
              <a:t>mal</a:t>
            </a:r>
            <a:r>
              <a:rPr lang="pt-BR" sz="2000" dirty="0" err="1">
                <a:solidFill>
                  <a:srgbClr val="848197"/>
                </a:solidFill>
                <a:latin typeface="Muli Light" panose="020B0604020202020204" charset="0"/>
              </a:rPr>
              <a:t>icious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” e “soft</a:t>
            </a:r>
            <a:r>
              <a:rPr lang="pt-BR" sz="2000" b="1" dirty="0">
                <a:solidFill>
                  <a:srgbClr val="848197"/>
                </a:solidFill>
                <a:latin typeface="Muli Light" panose="020B0604020202020204" charset="0"/>
              </a:rPr>
              <a:t>ware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”.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Tipos: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Vírus: Programa capaz de se reproduzir utilizando outro programa como hospedeiro, causando danos.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Cavalos de Troia: Programa que, ao entrar no 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computador, tentar liberar outro software para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capturar informações ou danificar </a:t>
            </a:r>
            <a:r>
              <a:rPr lang="pt-BR" sz="2000">
                <a:solidFill>
                  <a:srgbClr val="848197"/>
                </a:solidFill>
                <a:latin typeface="Muli Light" panose="020B0604020202020204" charset="0"/>
              </a:rPr>
              <a:t>o sistema.</a:t>
            </a: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 err="1">
                <a:solidFill>
                  <a:srgbClr val="848197"/>
                </a:solidFill>
                <a:latin typeface="Muli Light" panose="020B0604020202020204" charset="0"/>
              </a:rPr>
              <a:t>Spyware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: Programa que recolhe informações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sobre o usuário e transmite-as à uma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entidade externa, sem o conhecimento e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consentimento do usuário.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90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57200" y="118885"/>
            <a:ext cx="8301210" cy="8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Ataques a sistemas – Malware</a:t>
            </a:r>
            <a:endParaRPr sz="3200" dirty="0"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0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Outras variações de </a:t>
            </a:r>
            <a:r>
              <a:rPr lang="pt-BR" sz="2000" dirty="0" err="1">
                <a:solidFill>
                  <a:srgbClr val="848197"/>
                </a:solidFill>
                <a:latin typeface="Muli Light" panose="020B0604020202020204" charset="0"/>
              </a:rPr>
              <a:t>malware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: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i="1" dirty="0" err="1">
                <a:solidFill>
                  <a:srgbClr val="848197"/>
                </a:solidFill>
                <a:latin typeface="Muli Light" panose="020B0604020202020204" charset="0"/>
              </a:rPr>
              <a:t>Rootkit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: coleção de programas que habilita o acesso no nível do administrador.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i="1" dirty="0" err="1">
                <a:solidFill>
                  <a:srgbClr val="848197"/>
                </a:solidFill>
                <a:latin typeface="Muli Light" panose="020B0604020202020204" charset="0"/>
              </a:rPr>
              <a:t>Backdoor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: Facilita/abre o acesso remoto e não autorizado ao sistema.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 err="1">
                <a:solidFill>
                  <a:srgbClr val="848197"/>
                </a:solidFill>
                <a:latin typeface="Muli Light" panose="020B0604020202020204" charset="0"/>
              </a:rPr>
              <a:t>Ransomware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: Programa que criptografa o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sistema, impedindo que o usuário consiga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utilizar seus arquivos ou mesmo o sistema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em si.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 err="1">
                <a:solidFill>
                  <a:srgbClr val="848197"/>
                </a:solidFill>
                <a:latin typeface="Muli Light" panose="020B0604020202020204" charset="0"/>
              </a:rPr>
              <a:t>Phishing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: não é um ataque ao sistema, mas uma forma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de propagar vírus, </a:t>
            </a:r>
            <a:r>
              <a:rPr lang="pt-BR" sz="2000" i="1" dirty="0" err="1">
                <a:solidFill>
                  <a:srgbClr val="848197"/>
                </a:solidFill>
                <a:latin typeface="Muli Light" panose="020B0604020202020204" charset="0"/>
              </a:rPr>
              <a:t>backdoors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 e outros </a:t>
            </a:r>
            <a:r>
              <a:rPr lang="pt-BR" sz="2000" dirty="0" err="1">
                <a:solidFill>
                  <a:srgbClr val="848197"/>
                </a:solidFill>
                <a:latin typeface="Muli Light" panose="020B0604020202020204" charset="0"/>
              </a:rPr>
              <a:t>malware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8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0;p15"/>
          <p:cNvSpPr txBox="1">
            <a:spLocks/>
          </p:cNvSpPr>
          <p:nvPr/>
        </p:nvSpPr>
        <p:spPr>
          <a:xfrm>
            <a:off x="457200" y="118885"/>
            <a:ext cx="830121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pt-BR" sz="3200" dirty="0"/>
              <a:t>Ataques a sistemas – Funcionamento dos vírus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47058" y="1005717"/>
            <a:ext cx="6084000" cy="237830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73706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0;p15"/>
          <p:cNvSpPr txBox="1">
            <a:spLocks/>
          </p:cNvSpPr>
          <p:nvPr/>
        </p:nvSpPr>
        <p:spPr>
          <a:xfrm>
            <a:off x="457200" y="118885"/>
            <a:ext cx="830121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pt-BR" sz="3200" dirty="0"/>
              <a:t>Ataques a sistemas – Funcionamento dos antivírus</a:t>
            </a:r>
          </a:p>
        </p:txBody>
      </p:sp>
      <p:sp>
        <p:nvSpPr>
          <p:cNvPr id="4" name="Espaço Reservado para Texto 2"/>
          <p:cNvSpPr txBox="1">
            <a:spLocks/>
          </p:cNvSpPr>
          <p:nvPr/>
        </p:nvSpPr>
        <p:spPr>
          <a:xfrm>
            <a:off x="195941" y="987170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Os antivírus utilizam uma base de assinaturas de vírus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As assinaturas de vírus são padrões – sequências específicas de comandos – que os vírus utilizam para realizar seu ataque.</a:t>
            </a:r>
          </a:p>
          <a:p>
            <a:pPr marL="358775" indent="-34290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O antivírus percorre os arquivos executáveis ou arquivos do sistema em busca de assinaturas compatíveis com aquelas que estão na sua base de assinaturas.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Ao encontrar uma assinatura compatível, o vírus é detectado.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Se encontrar uma assinatura parecida, o arquivo é colocado em quarentena.</a:t>
            </a:r>
          </a:p>
          <a:p>
            <a:pPr marL="358775" indent="-34290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Alguns antivírus criam uma “</a:t>
            </a:r>
            <a:r>
              <a:rPr lang="pt-BR" sz="2000" i="1" dirty="0" err="1">
                <a:solidFill>
                  <a:srgbClr val="848197"/>
                </a:solidFill>
                <a:latin typeface="Muli Light" panose="020B0604020202020204" charset="0"/>
              </a:rPr>
              <a:t>sandbox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” para programas suspeitos.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95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6" name="Google Shape;70;p15"/>
          <p:cNvSpPr txBox="1">
            <a:spLocks/>
          </p:cNvSpPr>
          <p:nvPr/>
        </p:nvSpPr>
        <p:spPr>
          <a:xfrm>
            <a:off x="457200" y="118885"/>
            <a:ext cx="830121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pt-BR" sz="3200" dirty="0"/>
              <a:t>Mecanismos de proteção</a:t>
            </a:r>
          </a:p>
        </p:txBody>
      </p:sp>
      <p:sp>
        <p:nvSpPr>
          <p:cNvPr id="7" name="Espaço Reservado para Texto 2"/>
          <p:cNvSpPr txBox="1">
            <a:spLocks/>
          </p:cNvSpPr>
          <p:nvPr/>
        </p:nvSpPr>
        <p:spPr>
          <a:xfrm>
            <a:off x="195941" y="682362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Nos sistemas operacionais, os usuários são identificados e alocados em grupos.</a:t>
            </a:r>
          </a:p>
          <a:p>
            <a:pPr marL="862013" indent="-342900">
              <a:buClr>
                <a:srgbClr val="A7D86D"/>
              </a:buClr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Cada usuário tem um </a:t>
            </a:r>
            <a:r>
              <a:rPr lang="pt-BR" sz="2000" dirty="0">
                <a:solidFill>
                  <a:srgbClr val="84819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 para si e um </a:t>
            </a:r>
            <a:r>
              <a:rPr lang="pt-BR" sz="2000" dirty="0" err="1">
                <a:solidFill>
                  <a:srgbClr val="84819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gid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 (identificador do grupo que pertence).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Para cada objeto do sistema (arquivo, dispositivo, recurso </a:t>
            </a:r>
            <a:r>
              <a:rPr lang="pt-BR" sz="2000" dirty="0" err="1">
                <a:solidFill>
                  <a:srgbClr val="848197"/>
                </a:solidFill>
                <a:latin typeface="Muli Light" panose="020B0604020202020204" charset="0"/>
              </a:rPr>
              <a:t>etc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), as permissões para utilização daquele objeto são verificadas.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Cada objeto tem permissões para o dono, para o grupo que o dono pertence e para todos os demais usuários.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90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6" name="Google Shape;70;p15"/>
          <p:cNvSpPr txBox="1">
            <a:spLocks/>
          </p:cNvSpPr>
          <p:nvPr/>
        </p:nvSpPr>
        <p:spPr>
          <a:xfrm>
            <a:off x="457200" y="118885"/>
            <a:ext cx="830121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pt-BR" sz="3200" dirty="0"/>
              <a:t>Mecanismos de proteção</a:t>
            </a:r>
          </a:p>
        </p:txBody>
      </p:sp>
      <p:sp>
        <p:nvSpPr>
          <p:cNvPr id="7" name="Espaço Reservado para Texto 2"/>
          <p:cNvSpPr txBox="1">
            <a:spLocks/>
          </p:cNvSpPr>
          <p:nvPr/>
        </p:nvSpPr>
        <p:spPr>
          <a:xfrm>
            <a:off x="195941" y="682362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Além dos antivírus e dos mecanismos de proteção internos, o sistema ainda pode contar com um </a:t>
            </a:r>
            <a:r>
              <a:rPr lang="pt-BR" sz="2000" i="1" dirty="0">
                <a:solidFill>
                  <a:srgbClr val="848197"/>
                </a:solidFill>
                <a:latin typeface="Muli Light" panose="020B0604020202020204" charset="0"/>
              </a:rPr>
              <a:t>firewall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.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Um </a:t>
            </a:r>
            <a:r>
              <a:rPr lang="pt-BR" sz="2000" i="1" dirty="0">
                <a:solidFill>
                  <a:srgbClr val="848197"/>
                </a:solidFill>
                <a:latin typeface="Muli Light" panose="020B0604020202020204" charset="0"/>
              </a:rPr>
              <a:t>firewall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 é um software que:</a:t>
            </a:r>
          </a:p>
          <a:p>
            <a:pPr marL="631825" indent="-285750">
              <a:buClr>
                <a:srgbClr val="A7D86D"/>
              </a:buClr>
              <a:buFont typeface="Courier New" panose="02070309020205020404" pitchFamily="49" charset="0"/>
              <a:buChar char="o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Valida o acesso a determinados recursos.</a:t>
            </a:r>
          </a:p>
          <a:p>
            <a:pPr marL="631825" indent="-285750">
              <a:buClr>
                <a:srgbClr val="A7D86D"/>
              </a:buClr>
              <a:buFont typeface="Courier New" panose="02070309020205020404" pitchFamily="49" charset="0"/>
              <a:buChar char="o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Gerencia e controla o tráfego de rede</a:t>
            </a:r>
          </a:p>
          <a:p>
            <a:pPr marL="631825" indent="-285750">
              <a:buClr>
                <a:srgbClr val="A7D86D"/>
              </a:buClr>
              <a:buFont typeface="Courier New" panose="02070309020205020404" pitchFamily="49" charset="0"/>
              <a:buChar char="o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Grava e reporta eventos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O </a:t>
            </a:r>
            <a:r>
              <a:rPr lang="pt-BR" sz="2000" i="1" dirty="0">
                <a:solidFill>
                  <a:srgbClr val="848197"/>
                </a:solidFill>
                <a:latin typeface="Muli Light" panose="020B0604020202020204" charset="0"/>
              </a:rPr>
              <a:t>firewall</a:t>
            </a: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 funciona “observando” algumas portas de </a:t>
            </a:r>
            <a:b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conexão de rede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848197"/>
              </a:solidFill>
              <a:latin typeface="Muli Light" panose="020B060402020202020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348" y="1417735"/>
            <a:ext cx="3334215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8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6" name="Google Shape;70;p15"/>
          <p:cNvSpPr txBox="1">
            <a:spLocks/>
          </p:cNvSpPr>
          <p:nvPr/>
        </p:nvSpPr>
        <p:spPr>
          <a:xfrm>
            <a:off x="457200" y="118885"/>
            <a:ext cx="830121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D86D"/>
              </a:buClr>
              <a:buSzPts val="4800"/>
              <a:buFont typeface="Poppins"/>
              <a:buNone/>
              <a:defRPr sz="4800" b="1" i="0" u="none" strike="noStrike" cap="none">
                <a:solidFill>
                  <a:srgbClr val="A7D86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pt-BR" sz="3200" dirty="0"/>
              <a:t>Ataques que não dependem do sistema – Engenharia Social</a:t>
            </a:r>
          </a:p>
        </p:txBody>
      </p:sp>
      <p:sp>
        <p:nvSpPr>
          <p:cNvPr id="7" name="Espaço Reservado para Texto 2"/>
          <p:cNvSpPr txBox="1">
            <a:spLocks/>
          </p:cNvSpPr>
          <p:nvPr/>
        </p:nvSpPr>
        <p:spPr>
          <a:xfrm>
            <a:off x="195941" y="943626"/>
            <a:ext cx="8833343" cy="39658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A engenharia social é um vetor (estratégia) de ataque que inclui a manipulação das pessoas e relações sociais para se obter informações que facilitem o acesso aos sistemas.</a:t>
            </a:r>
          </a:p>
          <a:p>
            <a:pPr marL="285750" indent="-285750">
              <a:buClr>
                <a:srgbClr val="A7D86D"/>
              </a:buCl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848197"/>
                </a:solidFill>
                <a:latin typeface="Muli Light" panose="020B0604020202020204" charset="0"/>
              </a:rPr>
              <a:t>Exemplos: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1800" i="1" dirty="0" err="1">
                <a:solidFill>
                  <a:srgbClr val="848197"/>
                </a:solidFill>
                <a:latin typeface="Muli Light" panose="020B0604020202020204" charset="0"/>
              </a:rPr>
              <a:t>Phishing</a:t>
            </a: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: obtenção de informações pessoais através de e-mails para serviços ou ofertas.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Pretexto: criação de estórias falsas para obtenção de </a:t>
            </a:r>
            <a:b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informações sensíveis.</a:t>
            </a:r>
          </a:p>
          <a:p>
            <a:pPr marL="776288" indent="-342900">
              <a:buClr>
                <a:srgbClr val="A7D86D"/>
              </a:buClr>
              <a:buFont typeface="Wingdings" panose="05000000000000000000" pitchFamily="2" charset="2"/>
              <a:buChar char="ü"/>
            </a:pPr>
            <a:r>
              <a:rPr lang="pt-BR" sz="1800" i="1" dirty="0" err="1">
                <a:solidFill>
                  <a:srgbClr val="848197"/>
                </a:solidFill>
                <a:latin typeface="Muli Light" panose="020B0604020202020204" charset="0"/>
              </a:rPr>
              <a:t>Tailgating</a:t>
            </a: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 (bagageiro): personificação de um usuário</a:t>
            </a:r>
            <a:b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</a:br>
            <a:r>
              <a:rPr lang="pt-BR" sz="1800" dirty="0">
                <a:solidFill>
                  <a:srgbClr val="848197"/>
                </a:solidFill>
                <a:latin typeface="Muli Light" panose="020B0604020202020204" charset="0"/>
              </a:rPr>
              <a:t>autorizado para obtenção de informações sensíveis.</a:t>
            </a:r>
          </a:p>
        </p:txBody>
      </p:sp>
    </p:spTree>
    <p:extLst>
      <p:ext uri="{BB962C8B-B14F-4D97-AF65-F5344CB8AC3E}">
        <p14:creationId xmlns:p14="http://schemas.microsoft.com/office/powerpoint/2010/main" val="2157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heme/theme1.xml><?xml version="1.0" encoding="utf-8"?>
<a:theme xmlns:a="http://schemas.openxmlformats.org/drawingml/2006/main" name="Gowe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1240</Words>
  <Application>Microsoft Office PowerPoint</Application>
  <PresentationFormat>Apresentação na tela (16:9)</PresentationFormat>
  <Paragraphs>168</Paragraphs>
  <Slides>20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Arial</vt:lpstr>
      <vt:lpstr>Courier New</vt:lpstr>
      <vt:lpstr>Muli Light</vt:lpstr>
      <vt:lpstr>Poppins</vt:lpstr>
      <vt:lpstr>Poppins Light</vt:lpstr>
      <vt:lpstr>Times New Roman</vt:lpstr>
      <vt:lpstr>Wingdings</vt:lpstr>
      <vt:lpstr>Gower template</vt:lpstr>
      <vt:lpstr>Segurança em  Sistemas Operacionais</vt:lpstr>
      <vt:lpstr>Plano de apresentação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Autenticação de usuários</vt:lpstr>
      <vt:lpstr>Medidas de defesa contra ataques do tipo força bruta</vt:lpstr>
      <vt:lpstr>Ataques a sistemas – Malware</vt:lpstr>
      <vt:lpstr>Ataques a sistemas – Malware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André Leon Gradvohl</dc:creator>
  <cp:lastModifiedBy>Andre Leon Gradvohl</cp:lastModifiedBy>
  <cp:revision>57</cp:revision>
  <dcterms:modified xsi:type="dcterms:W3CDTF">2023-11-20T12:54:58Z</dcterms:modified>
</cp:coreProperties>
</file>